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1213247"/>
            <a:ext cx="8290661" cy="146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Claude Code: Latest Features &amp; Capabilities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26669" y="2930128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400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Anthropic's Official Agentic Coding Tool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6669" y="3663553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C3C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2025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1015901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46013"/>
            <a:ext cx="492287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is Claude Code?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777752"/>
            <a:ext cx="8128099" cy="279424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3200"/>
              </a:lnSpc>
              <a:spcAft>
                <a:spcPts val="1500"/>
              </a:spcAft>
              <a:buSzPct val="100000"/>
              <a:buChar char="•"/>
            </a:pPr>
            <a:r>
              <a:rPr lang="en-US" sz="20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Anthropic's official CLI</a:t>
            </a:r>
            <a:pPr algn="l" indent="0" marL="0">
              <a:lnSpc>
                <a:spcPts val="3200"/>
              </a:lnSpc>
              <a:spcAft>
                <a:spcPts val="15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for Claude</a:t>
            </a:r>
            <a:endParaRPr lang="en-US" sz="2000" dirty="0"/>
          </a:p>
          <a:p>
            <a:pPr algn="l" marL="190500" indent="-190500">
              <a:lnSpc>
                <a:spcPts val="3200"/>
              </a:lnSpc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Turn ideas into code </a:t>
            </a:r>
            <a:pPr algn="l" indent="0" marL="0">
              <a:lnSpc>
                <a:spcPts val="3200"/>
              </a:lnSpc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faster than ever</a:t>
            </a:r>
            <a:endParaRPr lang="en-US" sz="2000" dirty="0"/>
          </a:p>
          <a:p>
            <a:pPr algn="l" marL="190500" indent="-190500">
              <a:lnSpc>
                <a:spcPts val="3200"/>
              </a:lnSpc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Works directly in </a:t>
            </a:r>
            <a:pPr algn="l" indent="0" marL="0">
              <a:lnSpc>
                <a:spcPts val="3200"/>
              </a:lnSpc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terminal</a:t>
            </a:r>
            <a:endParaRPr lang="en-US" sz="2000" dirty="0"/>
          </a:p>
          <a:p>
            <a:pPr algn="l" marL="190500" indent="-190500">
              <a:lnSpc>
                <a:spcPts val="3200"/>
              </a:lnSpc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Takes direct action: </a:t>
            </a:r>
            <a:pPr algn="l" indent="0" marL="0">
              <a:lnSpc>
                <a:spcPts val="3200"/>
              </a:lnSpc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edits files, runs commands, creates commits</a:t>
            </a:r>
            <a:endParaRPr lang="en-US" sz="2000" dirty="0"/>
          </a:p>
          <a:p>
            <a:pPr algn="l" marL="190500" indent="-190500">
              <a:lnSpc>
                <a:spcPts val="3200"/>
              </a:lnSpc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Unix philosophy: </a:t>
            </a:r>
            <a:pPr algn="l" indent="0" marL="0">
              <a:lnSpc>
                <a:spcPts val="3200"/>
              </a:lnSpc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composable and scriptable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1015901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46013"/>
            <a:ext cx="380953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 Capabilities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777752"/>
            <a:ext cx="8128099" cy="279424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3200"/>
              </a:lnSpc>
              <a:spcAft>
                <a:spcPts val="1500"/>
              </a:spcAft>
              <a:buSzPct val="100000"/>
              <a:buChar char="•"/>
            </a:pPr>
            <a:r>
              <a:rPr lang="en-US" sz="20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features</a:t>
            </a:r>
            <a:pPr algn="l" indent="0" marL="0">
              <a:lnSpc>
                <a:spcPts val="3200"/>
              </a:lnSpc>
              <a:spcAft>
                <a:spcPts val="15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from descriptions</a:t>
            </a:r>
            <a:endParaRPr lang="en-US" sz="2000" dirty="0"/>
          </a:p>
          <a:p>
            <a:pPr algn="l" marL="190500" indent="-190500">
              <a:lnSpc>
                <a:spcPts val="3200"/>
              </a:lnSpc>
              <a:spcAft>
                <a:spcPts val="1500"/>
              </a:spcAft>
              <a:buSzPct val="100000"/>
              <a:buChar char="•"/>
            </a:pPr>
            <a:r>
              <a:rPr lang="en-US" sz="20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Debug and fix issues</a:t>
            </a:r>
            <a:pPr algn="l" indent="0" marL="0">
              <a:lnSpc>
                <a:spcPts val="3200"/>
              </a:lnSpc>
              <a:spcAft>
                <a:spcPts val="15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automatically</a:t>
            </a:r>
            <a:endParaRPr lang="en-US" sz="2000" dirty="0"/>
          </a:p>
          <a:p>
            <a:pPr algn="l" marL="190500" indent="-190500">
              <a:lnSpc>
                <a:spcPts val="3200"/>
              </a:lnSpc>
              <a:spcAft>
                <a:spcPts val="1500"/>
              </a:spcAft>
              <a:buSzPct val="100000"/>
              <a:buChar char="•"/>
            </a:pPr>
            <a:r>
              <a:rPr lang="en-US" sz="20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Navigate any codebase</a:t>
            </a:r>
            <a:pPr algn="l" indent="0" marL="0">
              <a:lnSpc>
                <a:spcPts val="3200"/>
              </a:lnSpc>
              <a:spcAft>
                <a:spcPts val="15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intelligently</a:t>
            </a:r>
            <a:endParaRPr lang="en-US" sz="2000" dirty="0"/>
          </a:p>
          <a:p>
            <a:pPr algn="l" marL="190500" indent="-190500">
              <a:lnSpc>
                <a:spcPts val="3200"/>
              </a:lnSpc>
              <a:spcAft>
                <a:spcPts val="1500"/>
              </a:spcAft>
              <a:buSzPct val="100000"/>
              <a:buChar char="•"/>
            </a:pPr>
            <a:r>
              <a:rPr lang="en-US" sz="20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Automate tedious</a:t>
            </a:r>
            <a:pPr algn="l" indent="0" marL="0">
              <a:lnSpc>
                <a:spcPts val="3200"/>
              </a:lnSpc>
              <a:spcAft>
                <a:spcPts val="15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development tasks</a:t>
            </a:r>
            <a:endParaRPr lang="en-US" sz="2000" dirty="0"/>
          </a:p>
          <a:p>
            <a:pPr algn="l" marL="190500" indent="-190500">
              <a:lnSpc>
                <a:spcPts val="3200"/>
              </a:lnSpc>
              <a:spcAft>
                <a:spcPts val="1500"/>
              </a:spcAft>
              <a:buSzPct val="100000"/>
              <a:buChar char="•"/>
            </a:pPr>
            <a:r>
              <a:rPr lang="en-US" sz="20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Maintain awareness</a:t>
            </a:r>
            <a:pPr algn="l" indent="0" marL="0">
              <a:lnSpc>
                <a:spcPts val="3200"/>
              </a:lnSpc>
              <a:spcAft>
                <a:spcPts val="15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of entire projects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1015901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46013"/>
            <a:ext cx="482055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Latest Updates (2025)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650802"/>
            <a:ext cx="8128099" cy="2956024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88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Extended Thinking Mode</a:t>
            </a:r>
            <a:pPr algn="l" indent="0" marL="0">
              <a:lnSpc>
                <a:spcPts val="288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(up to 31,999 tokens for reasoning)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Enhanced Built-in Subagents</a:t>
            </a:r>
            <a:pPr algn="l" indent="0" marL="0">
              <a:lnSpc>
                <a:spcPts val="288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(General, Plan, Explore)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VS Code Extension</a:t>
            </a:r>
            <a:pPr algn="l" indent="0" marL="0">
              <a:lnSpc>
                <a:spcPts val="288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(Beta)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Advanced Agent Skills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Powerful Hooks System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MCP Integration Enhancements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1015901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46013"/>
            <a:ext cx="551855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Extended Thinking Mode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523851"/>
            <a:ext cx="8128099" cy="2107704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52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Available on </a:t>
            </a:r>
            <a:pPr algn="l" indent="0" marL="0">
              <a:lnSpc>
                <a:spcPts val="252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Sonnet 4.5 and Opus 4.5</a:t>
            </a:r>
            <a:pPr algn="l" indent="0" marL="0">
              <a:lnSpc>
                <a:spcPts val="252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by default</a:t>
            </a:r>
            <a:endParaRPr lang="en-US" sz="1800" dirty="0"/>
          </a:p>
          <a:p>
            <a:pPr algn="l" marL="190500" indent="-190500">
              <a:lnSpc>
                <a:spcPts val="252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Complex architectural decisions</a:t>
            </a:r>
            <a:endParaRPr lang="en-US" sz="1800" dirty="0"/>
          </a:p>
          <a:p>
            <a:pPr algn="l" marL="190500" indent="-190500">
              <a:lnSpc>
                <a:spcPts val="252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Challenging bug analysis</a:t>
            </a:r>
            <a:endParaRPr lang="en-US" sz="1800" dirty="0"/>
          </a:p>
          <a:p>
            <a:pPr algn="l" marL="190500" indent="-190500">
              <a:lnSpc>
                <a:spcPts val="252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</a:t>
            </a:r>
            <a:pPr algn="l" indent="0" marL="0">
              <a:lnSpc>
                <a:spcPts val="252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'ultrathink' keyword</a:t>
            </a:r>
            <a:pPr algn="l" indent="0" marL="0">
              <a:lnSpc>
                <a:spcPts val="252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for single-request thinking</a:t>
            </a:r>
            <a:endParaRPr lang="en-US" sz="1800" dirty="0"/>
          </a:p>
          <a:p>
            <a:pPr algn="l" marL="190500" indent="-190500">
              <a:lnSpc>
                <a:spcPts val="252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Up to </a:t>
            </a:r>
            <a:pPr algn="l" indent="0" marL="0">
              <a:lnSpc>
                <a:spcPts val="252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31,999 tokens</a:t>
            </a:r>
            <a:pPr algn="l" indent="0" marL="0">
              <a:lnSpc>
                <a:spcPts val="252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for internal reasoning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3822055"/>
            <a:ext cx="8128099" cy="1155502"/>
          </a:xfrm>
          <a:prstGeom prst="roundRect">
            <a:avLst>
              <a:gd name="adj" fmla="val 879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55575" y="3822055"/>
            <a:ext cx="0" cy="1155502"/>
          </a:xfrm>
          <a:prstGeom prst="line">
            <a:avLst/>
          </a:prstGeom>
          <a:noFill/>
          <a:ln w="9525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3700" y="4190256"/>
            <a:ext cx="780488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i="1" dirty="0">
                <a:solidFill>
                  <a:srgbClr val="5D6D7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Perfect for complex problems that require deep analysis and careful consideration of multiple approaches.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1015901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46013"/>
            <a:ext cx="924035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MCP (Model Context Protocol) Integration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460302"/>
            <a:ext cx="8128099" cy="151358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38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Connect to </a:t>
            </a:r>
            <a:pPr algn="l" indent="0" marL="0">
              <a:lnSpc>
                <a:spcPts val="238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100+ external tools</a:t>
            </a:r>
            <a:pPr algn="l" indent="0" marL="0">
              <a:lnSpc>
                <a:spcPts val="238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and data sources</a:t>
            </a:r>
            <a:endParaRPr lang="en-US" sz="1700" dirty="0"/>
          </a:p>
          <a:p>
            <a:pPr algn="l" marL="190500" indent="-190500">
              <a:lnSpc>
                <a:spcPts val="2380"/>
              </a:lnSpc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transport types:</a:t>
            </a:r>
            <a:pPr algn="l" indent="0" marL="0">
              <a:lnSpc>
                <a:spcPts val="238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HTTP, SSE, stdio</a:t>
            </a:r>
            <a:endParaRPr lang="en-US" sz="1700" dirty="0"/>
          </a:p>
          <a:p>
            <a:pPr algn="l" marL="190500" indent="-190500">
              <a:lnSpc>
                <a:spcPts val="2380"/>
              </a:lnSpc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scope levels:</a:t>
            </a:r>
            <a:pPr algn="l" indent="0" marL="0">
              <a:lnSpc>
                <a:spcPts val="238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local, project, user</a:t>
            </a:r>
            <a:endParaRPr lang="en-US" sz="1700" dirty="0"/>
          </a:p>
          <a:p>
            <a:pPr algn="l" marL="190500" indent="-190500">
              <a:lnSpc>
                <a:spcPts val="2380"/>
              </a:lnSpc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Enterprise MCP configuration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7950" y="3164384"/>
            <a:ext cx="8128099" cy="1107877"/>
          </a:xfrm>
          <a:prstGeom prst="roundRect">
            <a:avLst>
              <a:gd name="adj" fmla="val 9171"/>
            </a:avLst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2117" y="3570684"/>
            <a:ext cx="797976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Connect to GitHub, Sentry, Slack, Figma, PostgreSQL &amp; More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7950" y="439921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Popular servers: Jira, Linear, PostgreSQL, Google Drive, Stripe &amp; more.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1015901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46013"/>
            <a:ext cx="336824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Getting Started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523851"/>
            <a:ext cx="8128099" cy="1660773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52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Simple installation:</a:t>
            </a:r>
            <a:pPr algn="l" indent="0" marL="0">
              <a:lnSpc>
                <a:spcPts val="252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one-line curl command</a:t>
            </a:r>
            <a:endParaRPr lang="en-US" sz="1800" dirty="0"/>
          </a:p>
          <a:p>
            <a:pPr algn="l" marL="190500" indent="-190500">
              <a:lnSpc>
                <a:spcPts val="252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Works </a:t>
            </a:r>
            <a:pPr algn="l" indent="0" marL="0">
              <a:lnSpc>
                <a:spcPts val="252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immediately in terminal</a:t>
            </a:r>
            <a:endParaRPr lang="en-US" sz="1800" dirty="0"/>
          </a:p>
          <a:p>
            <a:pPr algn="l" marL="190500" indent="-190500">
              <a:lnSpc>
                <a:spcPts val="252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separate chat window</a:t>
            </a:r>
            <a:pPr algn="l" indent="0" marL="0">
              <a:lnSpc>
                <a:spcPts val="252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needed</a:t>
            </a:r>
            <a:endParaRPr lang="en-US" sz="1800" dirty="0"/>
          </a:p>
          <a:p>
            <a:pPr algn="l" marL="190500" indent="-190500">
              <a:lnSpc>
                <a:spcPts val="252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Explain code and fix bugs with </a:t>
            </a:r>
            <a:pPr algn="l" indent="0" marL="0">
              <a:lnSpc>
                <a:spcPts val="252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plain English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3375124"/>
            <a:ext cx="8128099" cy="904875"/>
          </a:xfrm>
          <a:prstGeom prst="roundRect">
            <a:avLst>
              <a:gd name="adj" fmla="val 11228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6550" y="3718024"/>
            <a:ext cx="782431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chat "help me understand this codebase"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Code: Latest Features &amp; Capabilities 2025</dc:title>
  <dc:subject>PptxGenJS Presentation</dc:subject>
  <dc:creator>Claude Code</dc:creator>
  <cp:lastModifiedBy>Claude Code</cp:lastModifiedBy>
  <cp:revision>1</cp:revision>
  <dcterms:created xsi:type="dcterms:W3CDTF">2025-12-20T13:21:10Z</dcterms:created>
  <dcterms:modified xsi:type="dcterms:W3CDTF">2025-12-20T13:21:10Z</dcterms:modified>
</cp:coreProperties>
</file>